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01" r:id="rId3"/>
    <p:sldId id="258" r:id="rId4"/>
    <p:sldId id="290" r:id="rId5"/>
    <p:sldId id="291" r:id="rId6"/>
    <p:sldId id="292" r:id="rId7"/>
    <p:sldId id="308" r:id="rId8"/>
    <p:sldId id="309" r:id="rId9"/>
    <p:sldId id="293" r:id="rId10"/>
    <p:sldId id="294" r:id="rId11"/>
    <p:sldId id="296" r:id="rId12"/>
    <p:sldId id="295" r:id="rId13"/>
    <p:sldId id="297" r:id="rId14"/>
    <p:sldId id="299" r:id="rId15"/>
    <p:sldId id="300" r:id="rId16"/>
    <p:sldId id="306" r:id="rId17"/>
    <p:sldId id="307" r:id="rId18"/>
    <p:sldId id="284" r:id="rId1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r9t/zlH0+U33JGxe/pMkYlLIyx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rya-2" initials="A2" lastIdx="1" clrIdx="0">
    <p:extLst>
      <p:ext uri="{19B8F6BF-5375-455C-9EA6-DF929625EA0E}">
        <p15:presenceInfo xmlns:p15="http://schemas.microsoft.com/office/powerpoint/2012/main" userId="Aarya-2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8" y="18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8D973BD-312F-BF05-65C9-E7104D4EB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24D2BFF-8D34-87D2-4CCA-00B6EC8798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189D0FD4-036F-E0CC-EE6C-BFA0A047D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8548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832D377-4388-2BA8-0DE3-E9460B2F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5F5AE50B-011F-E077-A718-A49DEC0AF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3473D31-B19B-801E-8DCE-5EF67752A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62654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6A6363E-96AF-5983-1BDC-02B1EE0E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13B905A7-5347-6E84-1101-346F5F901B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ACE44ECB-D30A-EBD4-075E-4AD9FF1693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4470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A19E0DA-03A4-173F-9F88-2F4EE1817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A5F32EA0-652B-88C0-D169-74EDE25DC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A205EAE-44AF-AB28-1985-1B7E2691A9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40172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01FE3A7-6C1D-992F-70A1-A7A8DA14E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86B7B790-60F1-1AA8-4497-3586F5911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943D0F61-955A-6681-A95E-7077D6C7B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3457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3E80887-EE0E-BD26-8B99-97D5903C0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E222FA0-A02C-5047-4BAF-1B2143562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C8433BFC-53F5-697D-F601-566CD92DE7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2156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BE7DC0-BADD-0C47-3231-1F6E87C05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A73C82B-96B1-3369-687C-658558A09E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3CE0BF4F-530D-2975-D01B-4D127CBCA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8609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EEF98A9-247C-5572-7ACC-B260F7ABD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A5793D0-F4E6-99AD-3C6E-340CF61F6C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CE24BE0-889E-9406-830C-4C95D5836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1849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523994F-C7DF-BE7C-E0F8-A384A4C7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8C7ABDF6-7AAA-5FEB-07A9-1C403B9B87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EAA6B12-D5AD-7173-CBD2-AC7FD3D68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6369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13B1C37-67EB-9285-DF99-F847A7861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409A335-E73B-B76E-59C9-523FFC500A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475786B8-928E-5EF2-88AB-DEDAE2C7A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3197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78B98FC-B266-728F-7852-DBB8B6B9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3BBCF11-1421-942F-C5DD-43C9EC0FA0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D420C06D-B46A-EB14-2B5A-9059010E7A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835791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40A0D10-8070-A24C-078B-BD3E4186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9789533F-1011-1693-F085-61A838D56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28262922-3AAD-7E36-04A9-38EE5CB29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1483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7B937F9-890A-07F8-10E3-42EDF8E1F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4E3F450D-2A76-9670-7146-428BD52F45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E6CD25F5-A23A-7DD5-2993-10CFAF1020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12844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076A0E3-F8E1-1F93-6553-FF3D9A0D3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FCC2BA16-4151-5030-5EB9-DC6D4E0B6B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745A6DBE-3E27-BAD6-53B1-C340C3319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9791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7783BF7-2843-2E3A-E562-9572D6CD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>
            <a:extLst>
              <a:ext uri="{FF2B5EF4-FFF2-40B4-BE49-F238E27FC236}">
                <a16:creationId xmlns:a16="http://schemas.microsoft.com/office/drawing/2014/main" id="{061E6F2E-F6E8-E5EC-809B-F001BA79B9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6" name="Google Shape;66;p3:notes">
            <a:extLst>
              <a:ext uri="{FF2B5EF4-FFF2-40B4-BE49-F238E27FC236}">
                <a16:creationId xmlns:a16="http://schemas.microsoft.com/office/drawing/2014/main" id="{0BCB851D-D4CB-64D8-D82C-B5324E966A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58257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319" name="Google Shape;3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title"/>
          </p:nvPr>
        </p:nvSpPr>
        <p:spPr>
          <a:xfrm>
            <a:off x="471327" y="73780"/>
            <a:ext cx="4407535" cy="1013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rgbClr val="2D52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0"/>
          <p:cNvSpPr txBox="1">
            <a:spLocks noGrp="1"/>
          </p:cNvSpPr>
          <p:nvPr>
            <p:ph type="body" idx="1"/>
          </p:nvPr>
        </p:nvSpPr>
        <p:spPr>
          <a:xfrm>
            <a:off x="596900" y="1541779"/>
            <a:ext cx="10509885" cy="3865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/>
        </p:nvSpPr>
        <p:spPr>
          <a:xfrm>
            <a:off x="4850010" y="2619660"/>
            <a:ext cx="5731160" cy="155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2500" b="1" dirty="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Physics Informed representation learning for COVID-19 Classification: An analysis of Feature separability and Latent space constraints</a:t>
            </a:r>
            <a:endParaRPr sz="25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313944" y="5489447"/>
            <a:ext cx="1066800" cy="1079500"/>
          </a:xfrm>
          <a:custGeom>
            <a:avLst/>
            <a:gdLst/>
            <a:ahLst/>
            <a:cxnLst/>
            <a:rect l="l" t="t" r="r" b="b"/>
            <a:pathLst>
              <a:path w="1066800" h="1079500" extrusionOk="0">
                <a:moveTo>
                  <a:pt x="1066800" y="1033272"/>
                </a:moveTo>
                <a:lnTo>
                  <a:pt x="45720" y="1033272"/>
                </a:lnTo>
                <a:lnTo>
                  <a:pt x="45720" y="0"/>
                </a:lnTo>
                <a:lnTo>
                  <a:pt x="0" y="0"/>
                </a:lnTo>
                <a:lnTo>
                  <a:pt x="0" y="1033272"/>
                </a:lnTo>
                <a:lnTo>
                  <a:pt x="0" y="1066800"/>
                </a:lnTo>
                <a:lnTo>
                  <a:pt x="0" y="1078992"/>
                </a:lnTo>
                <a:lnTo>
                  <a:pt x="1066800" y="1078992"/>
                </a:lnTo>
                <a:lnTo>
                  <a:pt x="1066800" y="1033272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4783073" y="4112515"/>
            <a:ext cx="4581525" cy="0"/>
          </a:xfrm>
          <a:custGeom>
            <a:avLst/>
            <a:gdLst/>
            <a:ahLst/>
            <a:cxnLst/>
            <a:rect l="l" t="t" r="r" b="b"/>
            <a:pathLst>
              <a:path w="4581525" h="120000" extrusionOk="0">
                <a:moveTo>
                  <a:pt x="0" y="0"/>
                </a:moveTo>
                <a:lnTo>
                  <a:pt x="4581448" y="0"/>
                </a:lnTo>
              </a:path>
            </a:pathLst>
          </a:custGeom>
          <a:noFill/>
          <a:ln w="38100" cap="flat" cmpd="sng">
            <a:solidFill>
              <a:srgbClr val="C55A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4979" y="1606296"/>
            <a:ext cx="2369820" cy="3549395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/>
          <p:nvPr/>
        </p:nvSpPr>
        <p:spPr>
          <a:xfrm>
            <a:off x="10855452" y="266699"/>
            <a:ext cx="1066800" cy="1077595"/>
          </a:xfrm>
          <a:custGeom>
            <a:avLst/>
            <a:gdLst/>
            <a:ahLst/>
            <a:cxnLst/>
            <a:rect l="l" t="t" r="r" b="b"/>
            <a:pathLst>
              <a:path w="1066800" h="1077595" extrusionOk="0">
                <a:moveTo>
                  <a:pt x="1066800" y="0"/>
                </a:moveTo>
                <a:lnTo>
                  <a:pt x="0" y="0"/>
                </a:lnTo>
                <a:lnTo>
                  <a:pt x="0" y="45720"/>
                </a:lnTo>
                <a:lnTo>
                  <a:pt x="1021080" y="45720"/>
                </a:lnTo>
                <a:lnTo>
                  <a:pt x="1021080" y="1077480"/>
                </a:lnTo>
                <a:lnTo>
                  <a:pt x="1066800" y="1077480"/>
                </a:lnTo>
                <a:lnTo>
                  <a:pt x="1066800" y="45720"/>
                </a:lnTo>
                <a:lnTo>
                  <a:pt x="1066800" y="10680"/>
                </a:lnTo>
                <a:lnTo>
                  <a:pt x="1066800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2;p1">
            <a:extLst>
              <a:ext uri="{FF2B5EF4-FFF2-40B4-BE49-F238E27FC236}">
                <a16:creationId xmlns:a16="http://schemas.microsoft.com/office/drawing/2014/main" id="{D0343AAB-DD93-C3D1-54CE-50720CB562AF}"/>
              </a:ext>
            </a:extLst>
          </p:cNvPr>
          <p:cNvSpPr/>
          <p:nvPr/>
        </p:nvSpPr>
        <p:spPr>
          <a:xfrm>
            <a:off x="4781916" y="4461847"/>
            <a:ext cx="749721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Aarya Upadhya, PES1UG23AM006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Anshull M Udyavar, PES1UG23AM057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Abhay H Bhargav</a:t>
            </a:r>
            <a:r>
              <a:rPr lang="en-IN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PES1UG23AM008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Haveesh Kumar, PES1UG23AM001 </a:t>
            </a:r>
            <a:endParaRPr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9;p1">
            <a:extLst>
              <a:ext uri="{FF2B5EF4-FFF2-40B4-BE49-F238E27FC236}">
                <a16:creationId xmlns:a16="http://schemas.microsoft.com/office/drawing/2014/main" id="{E4CC22FB-453C-4823-29A6-1004DCC31E13}"/>
              </a:ext>
            </a:extLst>
          </p:cNvPr>
          <p:cNvSpPr/>
          <p:nvPr/>
        </p:nvSpPr>
        <p:spPr>
          <a:xfrm>
            <a:off x="4114799" y="667203"/>
            <a:ext cx="7497214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Advanced Foundations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Machine Learning Course Project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6F66C97-A123-16D9-3675-51953D65F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0D953A79-E8E5-1574-4D09-11AC985783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5B49E40-DFE4-C76B-04A8-9485B5C6CDF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0C333222-57A3-F5A5-1774-C5449A71473D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00A8410D-5C53-855F-2C34-6C72A040BE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Submission Checklist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C78F10-45E7-6395-FC2F-020A9D561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050966"/>
              </p:ext>
            </p:extLst>
          </p:nvPr>
        </p:nvGraphicFramePr>
        <p:xfrm>
          <a:off x="422687" y="1653702"/>
          <a:ext cx="10981305" cy="387410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932568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Drive Shared ( Y/N)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notebook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Dataset or dataset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This PPT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 5 mins Video presenting your paper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Brief Project Report in IEEE Format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F66DE3D-B9B0-5802-D719-2C6CC78F83AF}"/>
              </a:ext>
            </a:extLst>
          </p:cNvPr>
          <p:cNvSpPr txBox="1"/>
          <p:nvPr/>
        </p:nvSpPr>
        <p:spPr>
          <a:xfrm>
            <a:off x="393111" y="6046627"/>
            <a:ext cx="234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366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/>
        </p:nvSpPr>
        <p:spPr>
          <a:xfrm>
            <a:off x="292100" y="1564640"/>
            <a:ext cx="10252683" cy="475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88266" marR="119379" lvl="0" algn="just">
              <a:buSzPts val="2800"/>
            </a:pPr>
            <a:r>
              <a:rPr lang="en-IN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IN" sz="2800" b="1" i="1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conflict</a:t>
            </a: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 : Interpretability vs Shortcut learning” </a:t>
            </a:r>
          </a:p>
          <a:p>
            <a:pPr marL="88266" marR="119379" lvl="0" algn="just">
              <a:buSzPts val="2800"/>
            </a:pPr>
            <a:endParaRPr lang="en-IN" sz="2800" b="1" i="1" u="sng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Deep learning models often achieve high accuracy (90%+) but lack the clinical trust due to the “black box” nature</a:t>
            </a: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endParaRPr lang="en-IN"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Research shows that these models often learn shortcuts rather than pathology </a:t>
            </a: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endParaRPr lang="en-IN"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>
              <a:buSzPts val="2800"/>
              <a:buFont typeface="Arial" panose="020B0604020202020204" pitchFamily="34" charset="0"/>
              <a:buChar char="•"/>
            </a:pP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Our Hypothesis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: By constraining a model with 14 strict radiological physics attributes, we can force it to learn real medicine, and avoid shortcuts </a:t>
            </a:r>
            <a:endParaRPr lang="en-IN"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6600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D013FFEC-E891-3EDF-F0DA-71F1331D198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35085630-386F-E457-D5C1-6098744789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Problem Statement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BA7AC88-1880-9D8A-4335-B759DFCD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99074C20-2BD7-E563-F9D4-1C0AAA7B5CEF}"/>
              </a:ext>
            </a:extLst>
          </p:cNvPr>
          <p:cNvSpPr txBox="1"/>
          <p:nvPr/>
        </p:nvSpPr>
        <p:spPr>
          <a:xfrm>
            <a:off x="292100" y="1564639"/>
            <a:ext cx="7341599" cy="4751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3560" marR="119379" lvl="0" indent="-455294" algn="just">
              <a:buSzPts val="2800"/>
              <a:buFont typeface="Arial"/>
              <a:buChar char="•"/>
            </a:pPr>
            <a:r>
              <a:rPr lang="en-IN" sz="2800" b="1" i="1" u="sng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Leak free splitting</a:t>
            </a:r>
            <a:r>
              <a:rPr lang="en-IN" sz="2800" b="1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IN" sz="280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 spli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t the data by Patient volume, not by slice ensuring no data leakage </a:t>
            </a:r>
          </a:p>
          <a:p>
            <a:pPr marL="543560" marR="119379" lvl="0" indent="-455294" algn="just">
              <a:buSzPts val="2800"/>
              <a:buFont typeface="Arial"/>
              <a:buChar char="•"/>
            </a:pPr>
            <a:endParaRPr lang="en-IN" sz="280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3560" marR="119379" lvl="0" indent="-455294" algn="just">
              <a:buSzPts val="2800"/>
              <a:buFont typeface="Arial"/>
              <a:buChar char="•"/>
            </a:pP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Physics Verification: 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We implement a pipeline to extract 13 different HU features(HU, gradient, texture)</a:t>
            </a:r>
          </a:p>
          <a:p>
            <a:pPr marL="543560" marR="119379" lvl="0" indent="-455294" algn="just">
              <a:buSzPts val="2800"/>
              <a:buFont typeface="Arial"/>
              <a:buChar char="•"/>
            </a:pPr>
            <a:endParaRPr lang="en-IN" sz="2800" b="1" i="1" u="sng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43560" marR="119379" lvl="0" indent="-455294" algn="just">
              <a:buSzPts val="2800"/>
              <a:buFont typeface="Arial"/>
              <a:buChar char="•"/>
            </a:pPr>
            <a:r>
              <a:rPr lang="en-IN" sz="2800" b="1" i="1" u="sng" dirty="0">
                <a:latin typeface="Calibri"/>
                <a:ea typeface="Calibri"/>
                <a:cs typeface="Calibri"/>
                <a:sym typeface="Calibri"/>
              </a:rPr>
              <a:t>Sanity checks: </a:t>
            </a:r>
            <a:r>
              <a:rPr lang="en-IN" sz="2800" dirty="0">
                <a:latin typeface="Calibri"/>
                <a:ea typeface="Calibri"/>
                <a:cs typeface="Calibri"/>
                <a:sym typeface="Calibri"/>
              </a:rPr>
              <a:t>We performed over 9 sanity checks, confirming that out data align with real world physics </a:t>
            </a:r>
            <a:endParaRPr sz="2800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702CBD9C-3D2A-A1F2-7C5F-B49EFDB319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35512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B4DCDD19-53C3-87CE-748C-05EFC6C7A89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85D3FEDD-A6E1-092E-5F12-CD01AB1A54EA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04DE4BB-AB6C-616F-CDF7-48938B17D4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Uniqueness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034D3D-AEA6-2AA3-30B5-708743890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824" y="1413420"/>
            <a:ext cx="4062076" cy="142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9CC0EE-9A19-85E3-8117-F81FA86487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400" y="2915138"/>
            <a:ext cx="3226293" cy="17738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D15585-CF1C-70BF-F97D-220BEF58E8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100" y="4765840"/>
            <a:ext cx="3309517" cy="18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8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9FFD4AB-2AD2-12F6-E85B-93971A82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79991763-9613-3510-8048-7F68DE17CE11}"/>
              </a:ext>
            </a:extLst>
          </p:cNvPr>
          <p:cNvSpPr txBox="1"/>
          <p:nvPr/>
        </p:nvSpPr>
        <p:spPr>
          <a:xfrm>
            <a:off x="292100" y="1564640"/>
            <a:ext cx="11536106" cy="462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r>
              <a:rPr lang="en-US" sz="2000" b="1" dirty="0"/>
              <a:t>Dataset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</a:t>
            </a:r>
            <a:r>
              <a:rPr lang="en-US" sz="2000" b="1" dirty="0"/>
              <a:t>5,000 CT slices</a:t>
            </a:r>
            <a:r>
              <a:rPr lang="en-US" sz="2000" dirty="0"/>
              <a:t> in total.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Balanced: </a:t>
            </a:r>
            <a:r>
              <a:rPr lang="en-US" sz="2000" b="1" dirty="0"/>
              <a:t>2,500 COVID</a:t>
            </a:r>
            <a:r>
              <a:rPr lang="en-US" sz="2000" dirty="0"/>
              <a:t> and </a:t>
            </a:r>
            <a:r>
              <a:rPr lang="en-US" sz="2000" b="1" dirty="0"/>
              <a:t>2,500 Normal</a:t>
            </a:r>
            <a:r>
              <a:rPr lang="en-US" sz="2000" dirty="0"/>
              <a:t> lung CT images.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Comes from a larger dataset containing scans from </a:t>
            </a:r>
            <a:r>
              <a:rPr lang="en-US" sz="2000" b="1" dirty="0"/>
              <a:t>over 1,000 patients</a:t>
            </a:r>
            <a:r>
              <a:rPr lang="en-US" sz="2000" dirty="0"/>
              <a:t>.</a:t>
            </a:r>
          </a:p>
          <a:p>
            <a:r>
              <a:rPr lang="en-US" sz="2000" b="1" dirty="0"/>
              <a:t>Dataset Attributes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sample is a </a:t>
            </a:r>
            <a:r>
              <a:rPr lang="en-US" sz="2000" b="1" dirty="0"/>
              <a:t>2D CT chest slice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Includes variations in </a:t>
            </a:r>
            <a:r>
              <a:rPr lang="en-US" sz="2000" b="1" dirty="0"/>
              <a:t>scan quality, slice thickness, and acquisition settings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Contains </a:t>
            </a:r>
            <a:r>
              <a:rPr lang="en-US" sz="2000" b="1" dirty="0"/>
              <a:t>pixel-level intensity values (Hounsfield Units)</a:t>
            </a:r>
            <a:r>
              <a:rPr lang="en-US" sz="2000" dirty="0"/>
              <a:t> that enable extraction of physics-based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generated </a:t>
            </a:r>
            <a:r>
              <a:rPr lang="en-US" sz="2000" b="1" dirty="0"/>
              <a:t>14 engineered attributes</a:t>
            </a:r>
            <a:r>
              <a:rPr lang="en-US" sz="2000" dirty="0"/>
              <a:t> per image (HU stats, texture, shape, gradient features) for physics-informed learning.</a:t>
            </a:r>
          </a:p>
          <a:p>
            <a:r>
              <a:rPr lang="en-US" sz="2000" b="1" dirty="0"/>
              <a:t>Dataset Source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Sourced from </a:t>
            </a:r>
            <a:r>
              <a:rPr lang="en-US" sz="2000" b="1" dirty="0" err="1"/>
              <a:t>MosMedData</a:t>
            </a:r>
            <a:r>
              <a:rPr lang="en-US" sz="2000" dirty="0"/>
              <a:t>, a </a:t>
            </a:r>
            <a:r>
              <a:rPr lang="en-US" sz="2000" b="1" dirty="0"/>
              <a:t>public COVID-19 chest CT dataset</a:t>
            </a:r>
            <a:r>
              <a:rPr lang="en-US" sz="2000" dirty="0"/>
              <a:t> released by medical institutions in Moscow.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Provided under an </a:t>
            </a:r>
            <a:r>
              <a:rPr lang="en-US" sz="2000" b="1" dirty="0"/>
              <a:t>open-access license</a:t>
            </a:r>
            <a:r>
              <a:rPr lang="en-US" sz="2000" dirty="0"/>
              <a:t> for research during the COVID-19 pandemic.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D0E528B6-696B-2650-3333-9EC22089D2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4D9B295-86C2-6340-33EA-B4352902F3C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E0522782-DA93-B7F1-B867-AB6F822D5460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5BA688B-29D9-1AF4-8378-FE693318A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Dataset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884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ACF7F8-A546-F433-DAB3-6A7DF104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361CCE45-74DF-9D29-D72C-5166AA1816EE}"/>
              </a:ext>
            </a:extLst>
          </p:cNvPr>
          <p:cNvSpPr txBox="1"/>
          <p:nvPr/>
        </p:nvSpPr>
        <p:spPr>
          <a:xfrm>
            <a:off x="292101" y="1564640"/>
            <a:ext cx="9591202" cy="2289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rgbClr val="0033CC"/>
                </a:solidFill>
                <a:latin typeface="Trebuchet MS"/>
              </a:rPr>
              <a:t>Approach : 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STAGE 1: data preprocessing and sanity checks 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STAGE 2: data exploration with drawn graphs 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STAGE 3: ARSIVAE with 1 physics</a:t>
            </a:r>
          </a:p>
          <a:p>
            <a:pPr marL="685791" lvl="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schemeClr val="tx1"/>
                </a:solidFill>
                <a:latin typeface="+mj-lt"/>
              </a:rPr>
              <a:t>STAGE 4: ARSIVAE with 14 radiological physics features</a:t>
            </a:r>
            <a:r>
              <a:rPr lang="en-US" sz="1600" dirty="0">
                <a:solidFill>
                  <a:schemeClr val="tx1"/>
                </a:solidFill>
                <a:latin typeface="Trebuchet MS"/>
              </a:rPr>
              <a:t> </a:t>
            </a:r>
            <a:endParaRPr lang="en-IN" sz="1600" dirty="0">
              <a:solidFill>
                <a:schemeClr val="tx1"/>
              </a:solidFill>
              <a:latin typeface="Trebuchet MS"/>
            </a:endParaRP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IN" sz="2800" dirty="0">
                <a:solidFill>
                  <a:srgbClr val="0033CC"/>
                </a:solidFill>
                <a:latin typeface="Trebuchet MS"/>
                <a:sym typeface="Trebuchet MS"/>
              </a:rPr>
              <a:t>Design –</a:t>
            </a: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srgbClr val="0033CC"/>
              </a:solidFill>
              <a:latin typeface="Trebuchet MS"/>
              <a:sym typeface="Trebuchet MS"/>
            </a:endParaRP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1045981-9E7B-0346-29CE-C9B395042E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93B75A02-2C41-638D-481F-7B4BA77A2339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7EC55C4B-DD52-B0F6-9316-0767438D10E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9B29ED5-0349-36D3-6119-19832AED6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Overall Design or Approach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EB5C3-A2E7-1DB0-6050-A254C1716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029" y="3503488"/>
            <a:ext cx="9591202" cy="323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6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A7F1D5A-D287-7AE6-C1DA-F38A01B7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053D0FB8-B3A9-38F6-4227-5C00A66C1497}"/>
              </a:ext>
            </a:extLst>
          </p:cNvPr>
          <p:cNvSpPr txBox="1"/>
          <p:nvPr/>
        </p:nvSpPr>
        <p:spPr>
          <a:xfrm>
            <a:off x="292101" y="1564640"/>
            <a:ext cx="4913527" cy="401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b="1" i="1" u="sng" dirty="0">
                <a:solidFill>
                  <a:schemeClr val="tx1"/>
                </a:solidFill>
                <a:latin typeface="+mj-lt"/>
                <a:sym typeface="Trebuchet MS"/>
              </a:rPr>
              <a:t>Technical Success</a:t>
            </a:r>
            <a:r>
              <a:rPr lang="en-US" sz="2000" dirty="0">
                <a:solidFill>
                  <a:schemeClr val="tx1"/>
                </a:solidFill>
                <a:latin typeface="+mj-lt"/>
                <a:sym typeface="Trebuchet MS"/>
              </a:rPr>
              <a:t>: The ARSIVAE successfully learned the laws of radiology </a:t>
            </a: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33CC"/>
              </a:solidFill>
              <a:latin typeface="+mj-lt"/>
              <a:sym typeface="Trebuchet MS"/>
            </a:endParaRP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b="1" i="1" u="sng" dirty="0">
                <a:solidFill>
                  <a:schemeClr val="tx1"/>
                </a:solidFill>
                <a:latin typeface="+mj-lt"/>
                <a:sym typeface="Trebuchet MS"/>
              </a:rPr>
              <a:t>Metric</a:t>
            </a:r>
            <a:r>
              <a:rPr lang="en-US" sz="2000" dirty="0">
                <a:solidFill>
                  <a:schemeClr val="tx1"/>
                </a:solidFill>
                <a:latin typeface="+mj-lt"/>
                <a:sym typeface="Trebuchet MS"/>
              </a:rPr>
              <a:t>: We achieved an average R^2 value of 0.89 across all 14 physics attributes </a:t>
            </a: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0033CC"/>
              </a:solidFill>
              <a:latin typeface="+mj-lt"/>
              <a:sym typeface="Trebuchet MS"/>
            </a:endParaRPr>
          </a:p>
          <a:p>
            <a:pPr marL="685791" indent="-342900" algn="just" eaLnBrk="0" hangingPunct="0">
              <a:buFont typeface="Arial" panose="020B0604020202020204" pitchFamily="34" charset="0"/>
              <a:buChar char="•"/>
              <a:defRPr/>
            </a:pPr>
            <a:r>
              <a:rPr lang="en-US" sz="2000" b="1" i="1" u="sng" dirty="0">
                <a:solidFill>
                  <a:schemeClr val="tx1"/>
                </a:solidFill>
                <a:latin typeface="+mj-lt"/>
                <a:sym typeface="Trebuchet MS"/>
              </a:rPr>
              <a:t>Implication</a:t>
            </a:r>
            <a:r>
              <a:rPr lang="en-US" sz="2000" dirty="0">
                <a:solidFill>
                  <a:schemeClr val="tx1"/>
                </a:solidFill>
                <a:latin typeface="+mj-lt"/>
                <a:sym typeface="Trebuchet MS"/>
              </a:rPr>
              <a:t>: The model successful compressed the images into a physically meaningful latent space. It understands density and texture via the HU units 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13B879A8-5AFD-788B-75A7-7B71CEA691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06328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AC61FA3-1607-D2D9-A3CD-1D4F05611E2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B452B092-5DFD-4097-5FBB-83AFA6CCC7E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F636B4ED-9716-62E9-DEC5-E9568EE8BA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Model Success – Physics alignment 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B80BBC-32BF-51D9-B221-1F655B301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356" y="1413420"/>
            <a:ext cx="4397103" cy="25604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FBC778-07E0-1918-8FD2-ECF24172B5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8575" y="4050738"/>
            <a:ext cx="4877753" cy="228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09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23A9150-2178-4C2F-1E85-27FA8F572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739DEF2A-7ED1-CD86-373F-537B5F29C1CB}"/>
              </a:ext>
            </a:extLst>
          </p:cNvPr>
          <p:cNvSpPr txBox="1"/>
          <p:nvPr/>
        </p:nvSpPr>
        <p:spPr>
          <a:xfrm>
            <a:off x="292100" y="1564640"/>
            <a:ext cx="6243171" cy="3397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u="sng" dirty="0"/>
              <a:t>The ceiling</a:t>
            </a:r>
            <a:r>
              <a:rPr lang="en-US" sz="2000" dirty="0"/>
              <a:t>: the perfect Physics understandings , classification accuracy plateaued at 70%(on Gridsearch and linear probe).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u="sng" dirty="0"/>
              <a:t>The Cause</a:t>
            </a:r>
            <a:r>
              <a:rPr lang="en-US" sz="2000" dirty="0"/>
              <a:t>: Statistical analysis reveals around 35% to 70% overlap in  the global physics between COVID and Normal cases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i="1" u="sng" dirty="0"/>
              <a:t>The Finding</a:t>
            </a:r>
            <a:r>
              <a:rPr lang="en-US" sz="2000" dirty="0"/>
              <a:t>: Global averages wash out localized pathologies like GGO. A mild COVID lung statistically resemble a healthy lung 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DC28CB-5533-7549-DC0E-79E63089EE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94096" y="16560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84E65148-CF26-C422-1F78-4A9E3BAFA1C7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CB8FFFD2-1B3C-8118-B1E9-67C73F00D8F5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BEF79E10-187F-37A5-1F69-07D2766CB9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6" y="657484"/>
            <a:ext cx="6211195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The discovery – “The spatial Information Gap”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28E2B8-DC7E-E857-0A69-1C366B71C0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81" y="1650350"/>
            <a:ext cx="5089624" cy="33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33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56F444D-98EF-5528-6FBA-A01C2585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>
            <a:extLst>
              <a:ext uri="{FF2B5EF4-FFF2-40B4-BE49-F238E27FC236}">
                <a16:creationId xmlns:a16="http://schemas.microsoft.com/office/drawing/2014/main" id="{5A488FBA-7054-6E2B-D44E-F8DA201FE6AA}"/>
              </a:ext>
            </a:extLst>
          </p:cNvPr>
          <p:cNvSpPr txBox="1"/>
          <p:nvPr/>
        </p:nvSpPr>
        <p:spPr>
          <a:xfrm>
            <a:off x="286871" y="1564640"/>
            <a:ext cx="5570616" cy="432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000" b="1" i="1" u="sng" dirty="0">
                <a:latin typeface="Calibri"/>
                <a:ea typeface="Calibri"/>
                <a:cs typeface="Calibri"/>
                <a:sym typeface="Calibri"/>
              </a:rPr>
              <a:t>Visualizing the limit: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The latent space shows intertwined clusters rather than clean separation </a:t>
            </a:r>
          </a:p>
          <a:p>
            <a:pPr marL="88266" marR="119379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000" b="1" i="1" u="sng" dirty="0">
                <a:latin typeface="Calibri"/>
                <a:ea typeface="Calibri"/>
                <a:cs typeface="Calibri"/>
                <a:sym typeface="Calibri"/>
              </a:rPr>
              <a:t>Interpretation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: This proves that without spatial localization, the classes are not linearly separable </a:t>
            </a: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45466" marR="119379" lvl="0" indent="-457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Char char="•"/>
            </a:pPr>
            <a:r>
              <a:rPr lang="en-IN" sz="2000" b="1" i="1" u="sng" dirty="0">
                <a:latin typeface="Calibri"/>
                <a:ea typeface="Calibri"/>
                <a:cs typeface="Calibri"/>
                <a:sym typeface="Calibri"/>
              </a:rPr>
              <a:t>Scientific Value: 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If we used a standard CNN, it might have separated these falsely using “shortcuts”. Our model's confusion is actually an honest representation of the data’s ambiguity </a:t>
            </a:r>
          </a:p>
        </p:txBody>
      </p:sp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826752FB-D694-10A0-1FAB-8C40C4A907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45239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9F60E43-44F7-8816-4C34-0AF90A8DD43A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AE59C79-5917-D4CC-85F9-3E9FDD281624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E08C3EA7-99CE-80C7-F4F6-2B3802144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Final Results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C6FC32-AE20-9D34-6046-CAB516558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439" y="1862535"/>
            <a:ext cx="5581905" cy="372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63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5ED29E1-7F97-3743-6432-730899D4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A4B8854A-06C7-CD7F-ADCA-DE649E5E43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63034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8FFD2902-0F0E-0141-DD58-44978C3C947B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59724F00-ABB5-2DED-169E-A35FE757A466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B8B40EF-CE1D-E89D-40DE-0E7C616B45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Done vs. Remaining to be done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940E85-F47A-D502-B749-0A7C824D0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715"/>
              </p:ext>
            </p:extLst>
          </p:nvPr>
        </p:nvGraphicFramePr>
        <p:xfrm>
          <a:off x="422687" y="1997963"/>
          <a:ext cx="10981305" cy="37553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 or To be Done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extraction and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Physics feature extraction with HU units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with 1 physics attribute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with 14 physics features and downstream classification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Hybrid model Spatial extraction + Physics extraction model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To be Done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571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00A384D-4A29-FE2F-9ED1-A06744051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8221108-3C46-1BDC-AFA1-A811217E25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48D7660F-1C23-D554-0A1B-95F4BCB1580E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ABAE4D7E-E300-E8AC-0359-8E70DA9CB34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89E26273-B356-6D8D-C3FF-0EE6E3E411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Features : Who did what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44D2F6-CA64-8510-4AA5-6E7A59A2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419409"/>
              </p:ext>
            </p:extLst>
          </p:nvPr>
        </p:nvGraphicFramePr>
        <p:xfrm>
          <a:off x="422687" y="1997963"/>
          <a:ext cx="10981305" cy="29415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Feature 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Contributed By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building and interpretation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Aarya Upadhya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building and interpretation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Anshull</a:t>
                      </a:r>
                      <a:r>
                        <a:rPr lang="en-US" sz="2000" dirty="0"/>
                        <a:t> M Udyavar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Sanity checks and data analysis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Abhay H Bhargav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Preprocessing and data loader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</a:t>
                      </a:r>
                      <a:r>
                        <a:rPr lang="en-US" sz="2000" dirty="0" err="1"/>
                        <a:t>Haveesh</a:t>
                      </a:r>
                      <a:r>
                        <a:rPr lang="en-US" sz="2000" dirty="0"/>
                        <a:t> Kumar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367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B208BD-A2EA-1D2E-569F-05C92B12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8D4768-734E-4568-6F4F-F254DFAA0B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2CFE7EFE-4948-17F2-AB9F-CEDDFA7F35C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CCD8FA1A-2C3A-C2D3-126B-33BC5C6C51F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5A083361-555A-F108-BBA0-4B3F49BF2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Quantity and Quality of Work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0FFF1C5-C58E-EE62-06C8-8126A3A7D9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394768"/>
              </p:ext>
            </p:extLst>
          </p:nvPr>
        </p:nvGraphicFramePr>
        <p:xfrm>
          <a:off x="422687" y="1753448"/>
          <a:ext cx="10938041" cy="482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375">
                  <a:extLst>
                    <a:ext uri="{9D8B030D-6E8A-4147-A177-3AD203B41FA5}">
                      <a16:colId xmlns:a16="http://schemas.microsoft.com/office/drawing/2014/main" val="2897803363"/>
                    </a:ext>
                  </a:extLst>
                </a:gridCol>
                <a:gridCol w="3862549">
                  <a:extLst>
                    <a:ext uri="{9D8B030D-6E8A-4147-A177-3AD203B41FA5}">
                      <a16:colId xmlns:a16="http://schemas.microsoft.com/office/drawing/2014/main" val="3715099944"/>
                    </a:ext>
                  </a:extLst>
                </a:gridCol>
                <a:gridCol w="2199899">
                  <a:extLst>
                    <a:ext uri="{9D8B030D-6E8A-4147-A177-3AD203B41FA5}">
                      <a16:colId xmlns:a16="http://schemas.microsoft.com/office/drawing/2014/main" val="893068887"/>
                    </a:ext>
                  </a:extLst>
                </a:gridCol>
                <a:gridCol w="2187609">
                  <a:extLst>
                    <a:ext uri="{9D8B030D-6E8A-4147-A177-3AD203B41FA5}">
                      <a16:colId xmlns:a16="http://schemas.microsoft.com/office/drawing/2014/main" val="4267769587"/>
                    </a:ext>
                  </a:extLst>
                </a:gridCol>
                <a:gridCol w="2187609">
                  <a:extLst>
                    <a:ext uri="{9D8B030D-6E8A-4147-A177-3AD203B41FA5}">
                      <a16:colId xmlns:a16="http://schemas.microsoft.com/office/drawing/2014/main" val="885006999"/>
                    </a:ext>
                  </a:extLst>
                </a:gridCol>
              </a:tblGrid>
              <a:tr h="684136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Code Functionality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%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Runs w/o Issues ( Y /N)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State minor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3531006"/>
                  </a:ext>
                </a:extLst>
              </a:tr>
              <a:tr h="981585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Data extraction and preprocessing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No minor issues . Patient leakage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972334"/>
                  </a:ext>
                </a:extLst>
              </a:tr>
              <a:tr h="1279036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Physics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Clipping and masking lungs to get right HU units resolved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622078"/>
                  </a:ext>
                </a:extLst>
              </a:tr>
              <a:tr h="684136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1 physics attribute (test)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Global averaging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884201"/>
                  </a:ext>
                </a:extLst>
              </a:tr>
              <a:tr h="400506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ARSIVAE 14 physics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Separability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4111770"/>
                  </a:ext>
                </a:extLst>
              </a:tr>
              <a:tr h="632962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 on physics latent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Low performance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903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6600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CEF127C-5D96-6FDF-0824-AC0C20209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119434A6-F465-C405-A9EE-24E3520BB2E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37E285E-376C-660E-1F1D-09B4227A20DF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F4C073CD-1A01-6D50-2B55-8DFEA4B876BB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68C10F9B-D2D8-FCE9-636F-B0D5D9607E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Few Learnings from this Project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9AF4B5-CC14-3FA1-9514-1FBFDA9B5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57697"/>
              </p:ext>
            </p:extLst>
          </p:nvPr>
        </p:nvGraphicFramePr>
        <p:xfrm>
          <a:off x="422687" y="1997963"/>
          <a:ext cx="11104590" cy="409350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Physics-based global CT features are informative but not fully discriminative</a:t>
                      </a:r>
                      <a:r>
                        <a:rPr lang="en-US" sz="2000" dirty="0"/>
                        <a:t>, showing 35–40% inherent class overlap.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Interpretability and accuracy can conflict</a:t>
                      </a:r>
                      <a:r>
                        <a:rPr lang="en-US" sz="2000" dirty="0"/>
                        <a:t> — the ARSIVAE achieved high physics alignment (R² = 0.89) but only moderate classification performance.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Multi-objective training matters</a:t>
                      </a:r>
                      <a:r>
                        <a:rPr lang="en-US" sz="2000" dirty="0"/>
                        <a:t> — staged annealing prevented latent space collapse and balanced physics + classification goals.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Spatial information is essential</a:t>
                      </a:r>
                      <a:r>
                        <a:rPr lang="en-US" sz="2000" dirty="0"/>
                        <a:t> — global HU/texture statistics miss localized COVID patterns like GGOs.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Hybrid models are the future</a:t>
                      </a:r>
                      <a:r>
                        <a:rPr lang="en-US" sz="2000" dirty="0"/>
                        <a:t> — combining physics priors with spatial deep learning can bridge interpretability and performance.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140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370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C5193A5-CC78-5F29-7C7A-66D3E430E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FA30D013-35C3-C234-BED6-6499675544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873" y="0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38398FD0-96D5-CF0E-32E6-919FE6B33DFC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50AC2E5D-E9DB-FE9F-AA7D-A41F7D2AB09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5BBCC29-A208-4352-BADA-2DB6C58611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Top Unresolved Challenges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12385C-DCB4-AC12-0935-6C4F18E91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875580"/>
              </p:ext>
            </p:extLst>
          </p:nvPr>
        </p:nvGraphicFramePr>
        <p:xfrm>
          <a:off x="422687" y="1997963"/>
          <a:ext cx="11104590" cy="235322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96819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9907771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Down stream classification via the physics latent space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Downstream separation of the classes into different clusters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Understanding the need for spatial features to resolve separation Gap early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3973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C48A601-BD1B-2FC6-6D4E-6013B647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3720601-0D54-E16F-1F58-492B181F50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CB1E558E-7C2F-69F6-D632-A187019E8712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95E62858-51D2-BFAF-9BCA-0883DE413CD8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C2750D0C-4893-9DF5-E491-EB010FB38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AD55FC-0E32-C06C-130A-6F1823F8A7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899399"/>
              </p:ext>
            </p:extLst>
          </p:nvPr>
        </p:nvGraphicFramePr>
        <p:xfrm>
          <a:off x="393111" y="1574150"/>
          <a:ext cx="10981305" cy="491646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902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53184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66043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79939"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R. R. Jain, A. S. Kanhere, C. T. M. H. L. L. Cabral, and G. </a:t>
                      </a:r>
                      <a:r>
                        <a:rPr lang="en-IN" sz="2000" dirty="0" err="1"/>
                        <a:t>Hamarneh</a:t>
                      </a:r>
                      <a:r>
                        <a:rPr lang="en-IN" sz="2000" dirty="0"/>
                        <a:t>, ”ARSIVAE: Attribute-Regularized Soft Introspective Variational Autoencoder for Medically Explainable Classification of Chest CT Scans,” </a:t>
                      </a:r>
                      <a:r>
                        <a:rPr lang="en-IN" sz="2000" dirty="0" err="1"/>
                        <a:t>arXiv</a:t>
                      </a:r>
                      <a:r>
                        <a:rPr lang="en-IN" sz="2000" dirty="0"/>
                        <a:t> preprint arXiv:2406.08282, 2024.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P. </a:t>
                      </a:r>
                      <a:r>
                        <a:rPr lang="en-IN" sz="2000" dirty="0" err="1"/>
                        <a:t>Perdikaris</a:t>
                      </a:r>
                      <a:r>
                        <a:rPr lang="en-IN" sz="2000" dirty="0"/>
                        <a:t> et al., ”Physics-informed deep learning for surrogate </a:t>
                      </a:r>
                      <a:r>
                        <a:rPr lang="en-IN" sz="2000" dirty="0" err="1"/>
                        <a:t>modeling</a:t>
                      </a:r>
                      <a:r>
                        <a:rPr lang="en-IN" sz="2000" dirty="0"/>
                        <a:t> of urban thermal dynamics,” </a:t>
                      </a:r>
                      <a:r>
                        <a:rPr lang="en-IN" sz="2000" dirty="0" err="1"/>
                        <a:t>arXiv</a:t>
                      </a:r>
                      <a:r>
                        <a:rPr lang="en-IN" sz="2000" dirty="0"/>
                        <a:t> preprint arXiv:2312.08915, 2023.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2023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D. P. Kingma and M. Welling, ”Auto-encoding variational bayes,” in Proc. Int. Conf. Learn. Represent. (ICLR)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2014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588307"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I. Higgins et al., ”beta-VAE: Learning basic visual concepts with a constrained variational framework,” in Proc. Int. Conf. Learn. Represent. (ICLR)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2017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907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B33DE2D-7144-EAA7-8658-CF47ECFEE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D1F3C8C5-0887-F50B-DA71-ACC4402063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B59C6E04-BC72-7610-80E4-0FB6649ACC80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293A281-4E6E-7930-7E6C-7369AD8023C2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1D19D08D-47E2-316A-D27F-282090DE8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3979EE-26EA-7D11-1777-475109E79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003119"/>
              </p:ext>
            </p:extLst>
          </p:nvPr>
        </p:nvGraphicFramePr>
        <p:xfrm>
          <a:off x="422687" y="1413420"/>
          <a:ext cx="10736925" cy="5334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146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38648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57897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339175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60984"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L. Li et al., ”Artificial intelligence distinguishes COVID-19 from community acquired pneumonia on chest CT,” Radiology, vol. 296, no. 2, pp. E65-E71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2020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  <a:tr h="1121888"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A. J. DeGrave, J. D. </a:t>
                      </a:r>
                      <a:r>
                        <a:rPr lang="en-US" sz="2000" dirty="0" err="1"/>
                        <a:t>Janizek</a:t>
                      </a:r>
                      <a:r>
                        <a:rPr lang="en-US" sz="2000" dirty="0"/>
                        <a:t>, and S. Lee, ”AI for radiographic COVID19 detection selects shortcuts and fails to generalize,” Nature Machine Intelligence, vol. 3, no. 7, pp. 610-619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2021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583575"/>
                  </a:ext>
                </a:extLst>
              </a:tr>
              <a:tr h="1121888"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J. R. Zech et al., ”Variable generalization performance of a deep learning model to detect pneumonia in chest radiographs: A cross-sectional study,” </a:t>
                      </a:r>
                      <a:r>
                        <a:rPr lang="en-US" sz="2000" dirty="0" err="1"/>
                        <a:t>PLoS</a:t>
                      </a:r>
                      <a:r>
                        <a:rPr lang="en-US" sz="2000" dirty="0"/>
                        <a:t> Medicine, vol. 15, no. 11, p. e1002683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2018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64949"/>
                  </a:ext>
                </a:extLst>
              </a:tr>
              <a:tr h="1121888"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A. Holzinger et al., ”</a:t>
                      </a:r>
                      <a:r>
                        <a:rPr lang="en-US" sz="2000" dirty="0" err="1"/>
                        <a:t>Causability</a:t>
                      </a:r>
                      <a:r>
                        <a:rPr lang="en-US" sz="2000" dirty="0"/>
                        <a:t> and explainability of artificial intelligence in medicine,” Wiley Interdisciplinary Reviews: Data Mining and Knowledge Discovery, vol. 9, no. 4, p. e1312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2019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618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38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9D9400C-F389-CFD5-6DC7-EED80EDCA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3">
            <a:extLst>
              <a:ext uri="{FF2B5EF4-FFF2-40B4-BE49-F238E27FC236}">
                <a16:creationId xmlns:a16="http://schemas.microsoft.com/office/drawing/2014/main" id="{C7927492-D6EF-2D68-A07F-A4BBC15E25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7145" y="14389"/>
            <a:ext cx="934211" cy="139903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7D5D596B-2D51-DB82-A998-AF91D68E8921}"/>
              </a:ext>
            </a:extLst>
          </p:cNvPr>
          <p:cNvSpPr/>
          <p:nvPr/>
        </p:nvSpPr>
        <p:spPr>
          <a:xfrm>
            <a:off x="0" y="1298447"/>
            <a:ext cx="8293100" cy="38100"/>
          </a:xfrm>
          <a:custGeom>
            <a:avLst/>
            <a:gdLst/>
            <a:ahLst/>
            <a:cxnLst/>
            <a:rect l="l" t="t" r="r" b="b"/>
            <a:pathLst>
              <a:path w="8293100" h="38100" extrusionOk="0">
                <a:moveTo>
                  <a:pt x="8293061" y="0"/>
                </a:moveTo>
                <a:lnTo>
                  <a:pt x="0" y="0"/>
                </a:lnTo>
                <a:lnTo>
                  <a:pt x="0" y="38100"/>
                </a:lnTo>
                <a:lnTo>
                  <a:pt x="8293061" y="38100"/>
                </a:lnTo>
                <a:lnTo>
                  <a:pt x="8293061" y="0"/>
                </a:lnTo>
                <a:close/>
              </a:path>
            </a:pathLst>
          </a:custGeom>
          <a:solidFill>
            <a:srgbClr val="C55A1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78;p32">
            <a:extLst>
              <a:ext uri="{FF2B5EF4-FFF2-40B4-BE49-F238E27FC236}">
                <a16:creationId xmlns:a16="http://schemas.microsoft.com/office/drawing/2014/main" id="{205BD45B-90CB-B66A-37E3-09F959779787}"/>
              </a:ext>
            </a:extLst>
          </p:cNvPr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Advanced Foundations for  Machine Learning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78;p4">
            <a:extLst>
              <a:ext uri="{FF2B5EF4-FFF2-40B4-BE49-F238E27FC236}">
                <a16:creationId xmlns:a16="http://schemas.microsoft.com/office/drawing/2014/main" id="{7702A134-E2B5-6D4C-770B-D651E82FF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2687" y="657484"/>
            <a:ext cx="5434800" cy="511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3339" marR="5080" lvl="0" indent="-41273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 dirty="0">
                <a:solidFill>
                  <a:srgbClr val="EB7B2F"/>
                </a:solidFill>
              </a:rPr>
              <a:t>References, if any 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671199-D9C0-CCD5-3D27-056013F2F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922727"/>
              </p:ext>
            </p:extLst>
          </p:nvPr>
        </p:nvGraphicFramePr>
        <p:xfrm>
          <a:off x="422687" y="1413420"/>
          <a:ext cx="10736925" cy="1706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71461">
                  <a:extLst>
                    <a:ext uri="{9D8B030D-6E8A-4147-A177-3AD203B41FA5}">
                      <a16:colId xmlns:a16="http://schemas.microsoft.com/office/drawing/2014/main" val="3172163919"/>
                    </a:ext>
                  </a:extLst>
                </a:gridCol>
                <a:gridCol w="6386489">
                  <a:extLst>
                    <a:ext uri="{9D8B030D-6E8A-4147-A177-3AD203B41FA5}">
                      <a16:colId xmlns:a16="http://schemas.microsoft.com/office/drawing/2014/main" val="4244383531"/>
                    </a:ext>
                  </a:extLst>
                </a:gridCol>
                <a:gridCol w="3578975">
                  <a:extLst>
                    <a:ext uri="{9D8B030D-6E8A-4147-A177-3AD203B41FA5}">
                      <a16:colId xmlns:a16="http://schemas.microsoft.com/office/drawing/2014/main" val="3029278379"/>
                    </a:ext>
                  </a:extLst>
                </a:gridCol>
              </a:tblGrid>
              <a:tr h="339175">
                <a:tc>
                  <a:txBody>
                    <a:bodyPr/>
                    <a:lstStyle/>
                    <a:p>
                      <a:r>
                        <a:rPr lang="en-IN" sz="2000" dirty="0"/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Paper title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Year of publication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830152"/>
                  </a:ext>
                </a:extLst>
              </a:tr>
              <a:tr h="860984">
                <a:tc>
                  <a:txBody>
                    <a:bodyPr/>
                    <a:lstStyle/>
                    <a:p>
                      <a:r>
                        <a:rPr lang="en-US" sz="2000" dirty="0"/>
                        <a:t>9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R. R. Selvaraju et al., ”Grad-CAM: Visual explanations from deep networks via gradient-based localization,” in Proc. IEEE Int. Conf. </a:t>
                      </a:r>
                      <a:r>
                        <a:rPr lang="en-IN" sz="2000" dirty="0" err="1"/>
                        <a:t>Comput</a:t>
                      </a:r>
                      <a:r>
                        <a:rPr lang="en-IN" sz="2000" dirty="0"/>
                        <a:t>. Vis. (ICCV), 2017, pp. 618-626.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2017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3852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548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29"/>
          <p:cNvCxnSpPr/>
          <p:nvPr/>
        </p:nvCxnSpPr>
        <p:spPr>
          <a:xfrm rot="10800000" flipH="1">
            <a:off x="4417036" y="2862364"/>
            <a:ext cx="4581449" cy="1"/>
          </a:xfrm>
          <a:prstGeom prst="straightConnector1">
            <a:avLst/>
          </a:prstGeom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2" name="Google Shape;322;p29"/>
          <p:cNvSpPr/>
          <p:nvPr/>
        </p:nvSpPr>
        <p:spPr>
          <a:xfrm>
            <a:off x="4335037" y="4065484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29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324" name="Google Shape;324;p29"/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9"/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9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9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8" name="Google Shape;328;p29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417" y="1444118"/>
            <a:ext cx="2369218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/>
          <p:nvPr/>
        </p:nvSpPr>
        <p:spPr>
          <a:xfrm>
            <a:off x="4263561" y="1949847"/>
            <a:ext cx="4603806" cy="66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lang="en-IN" sz="3600" b="1" i="0" u="none" strike="noStrike" cap="none" dirty="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4335037" y="303304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November 2025 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4335037" y="3549286"/>
            <a:ext cx="854306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I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in AI &amp;ML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1393</Words>
  <Application>Microsoft Office PowerPoint</Application>
  <PresentationFormat>Widescreen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Trebuchet MS</vt:lpstr>
      <vt:lpstr>Office Theme</vt:lpstr>
      <vt:lpstr>PowerPoint Presentation</vt:lpstr>
      <vt:lpstr>Submission Checklist </vt:lpstr>
      <vt:lpstr>Problem Statement</vt:lpstr>
      <vt:lpstr>Uniqueness</vt:lpstr>
      <vt:lpstr>Dataset </vt:lpstr>
      <vt:lpstr>Overall Design or Approach</vt:lpstr>
      <vt:lpstr>Model Success – Physics alignment </vt:lpstr>
      <vt:lpstr>The discovery – “The spatial Information Gap”</vt:lpstr>
      <vt:lpstr>Final Results</vt:lpstr>
      <vt:lpstr>Features : Done vs. Remaining to be done</vt:lpstr>
      <vt:lpstr>Features : Who did what </vt:lpstr>
      <vt:lpstr>Quantity and Quality of Work </vt:lpstr>
      <vt:lpstr>Top Few Learnings from this Project</vt:lpstr>
      <vt:lpstr>Top Unresolved Challenges</vt:lpstr>
      <vt:lpstr>References, if any </vt:lpstr>
      <vt:lpstr>References, if any </vt:lpstr>
      <vt:lpstr>References, if any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Bhaskar</dc:creator>
  <cp:lastModifiedBy>Aarya-2</cp:lastModifiedBy>
  <cp:revision>59</cp:revision>
  <dcterms:created xsi:type="dcterms:W3CDTF">2024-03-24T13:13:17Z</dcterms:created>
  <dcterms:modified xsi:type="dcterms:W3CDTF">2025-11-18T15:32:04Z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2024-03-24T00:00:00Z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2024-03-24T00:00:00Z</vt:filetime>
  </property>
  <property fmtid="{D5CDD505-2E9C-101B-9397-08002B2CF9AE}" pid="5" name="Producer">
    <vt:lpwstr>Adobe PDF Library 23.8.234</vt:lpwstr>
  </property>
</Properties>
</file>